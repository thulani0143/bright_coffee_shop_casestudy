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4"/>
  </p:sldMasterIdLst>
  <p:notesMasterIdLst>
    <p:notesMasterId r:id="rId15"/>
  </p:notesMasterIdLst>
  <p:handoutMasterIdLst>
    <p:handoutMasterId r:id="rId16"/>
  </p:handoutMasterIdLst>
  <p:sldIdLst>
    <p:sldId id="400" r:id="rId5"/>
    <p:sldId id="391" r:id="rId6"/>
    <p:sldId id="270" r:id="rId7"/>
    <p:sldId id="261" r:id="rId8"/>
    <p:sldId id="403" r:id="rId9"/>
    <p:sldId id="260" r:id="rId10"/>
    <p:sldId id="405" r:id="rId11"/>
    <p:sldId id="401" r:id="rId12"/>
    <p:sldId id="407" r:id="rId13"/>
    <p:sldId id="28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226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-1426"/>
    </p:cViewPr>
  </p:sorterViewPr>
  <p:notesViewPr>
    <p:cSldViewPr snapToGrid="0">
      <p:cViewPr varScale="1">
        <p:scale>
          <a:sx n="62" d="100"/>
          <a:sy n="62" d="100"/>
        </p:scale>
        <p:origin x="226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31667627\Downloads\Coffee_Shop_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31667627\Downloads\Coffee_Shop_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31667627\Downloads\Coffee_Shop_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31667627\Documents\Thulani\BrightLearn\Data%20Science\Case%20Study\Bright%20Coffee%20Shop\Coffee_Shop_Analys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95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Total Sales per Month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95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Report!$C$5</c:f>
              <c:strCache>
                <c:ptCount val="1"/>
                <c:pt idx="0">
                  <c:v>Total Revenue per Month</c:v>
                </c:pt>
              </c:strCache>
            </c:strRef>
          </c:tx>
          <c:spPr>
            <a:ln w="25400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1"/>
              </a:outerShdw>
            </a:effectLst>
          </c:spPr>
          <c:marker>
            <c:symbol val="none"/>
          </c:marker>
          <c:dLbls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Report!$B$6:$B$11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Report!$C$6:$C$11</c:f>
              <c:numCache>
                <c:formatCode>"R"#\ ##0.00</c:formatCode>
                <c:ptCount val="6"/>
                <c:pt idx="0">
                  <c:v>81677.739999999671</c:v>
                </c:pt>
                <c:pt idx="1">
                  <c:v>76145.189999999769</c:v>
                </c:pt>
                <c:pt idx="2">
                  <c:v>98834.679999999877</c:v>
                </c:pt>
                <c:pt idx="3">
                  <c:v>118941.07999999993</c:v>
                </c:pt>
                <c:pt idx="4">
                  <c:v>156727.76000000015</c:v>
                </c:pt>
                <c:pt idx="5">
                  <c:v>166485.88000000038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E6A-483A-978F-887B5356748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10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smooth val="0"/>
        <c:axId val="1423501312"/>
        <c:axId val="1423502272"/>
      </c:lineChart>
      <c:catAx>
        <c:axId val="1423501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3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3502272"/>
        <c:crosses val="autoZero"/>
        <c:auto val="1"/>
        <c:lblAlgn val="ctr"/>
        <c:lblOffset val="100"/>
        <c:noMultiLvlLbl val="0"/>
      </c:catAx>
      <c:valAx>
        <c:axId val="1423502272"/>
        <c:scaling>
          <c:orientation val="minMax"/>
        </c:scaling>
        <c:delete val="1"/>
        <c:axPos val="l"/>
        <c:numFmt formatCode="&quot;R&quot;#\ ##0.00" sourceLinked="1"/>
        <c:majorTickMark val="none"/>
        <c:minorTickMark val="none"/>
        <c:tickLblPos val="nextTo"/>
        <c:crossAx val="14235013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/>
    </a:solidFill>
    <a:ln w="9525" cap="flat" cmpd="sng" algn="ctr">
      <a:solidFill>
        <a:schemeClr val="lt1">
          <a:lumMod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Report!$C$15</c:f>
              <c:strCache>
                <c:ptCount val="1"/>
                <c:pt idx="0">
                  <c:v>Total Revenue per Store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Report!$B$16:$B$18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Report!$C$16:$C$18</c:f>
              <c:numCache>
                <c:formatCode>"R"#\ ##0.00</c:formatCode>
                <c:ptCount val="3"/>
                <c:pt idx="0">
                  <c:v>232243.91000000102</c:v>
                </c:pt>
                <c:pt idx="1">
                  <c:v>236511.17000000167</c:v>
                </c:pt>
                <c:pt idx="2">
                  <c:v>230057.25000000192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BD-47E5-B008-A9E80CF8E6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44891744"/>
        <c:axId val="1244891264"/>
      </c:barChart>
      <c:catAx>
        <c:axId val="1244891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4891264"/>
        <c:crosses val="autoZero"/>
        <c:auto val="1"/>
        <c:lblAlgn val="ctr"/>
        <c:lblOffset val="100"/>
        <c:noMultiLvlLbl val="0"/>
      </c:catAx>
      <c:valAx>
        <c:axId val="1244891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R&quot;#\ 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48917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Report!$C$22</c:f>
              <c:strCache>
                <c:ptCount val="1"/>
                <c:pt idx="0">
                  <c:v>Total Revenue per Product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Report!$B$23:$B$31</c:f>
              <c:strCache>
                <c:ptCount val="9"/>
                <c:pt idx="0">
                  <c:v>Tea</c:v>
                </c:pt>
                <c:pt idx="1">
                  <c:v>Packaged Chocolate</c:v>
                </c:pt>
                <c:pt idx="2">
                  <c:v>Loose Tea</c:v>
                </c:pt>
                <c:pt idx="3">
                  <c:v>Flavours</c:v>
                </c:pt>
                <c:pt idx="4">
                  <c:v>Drinking Chocolate</c:v>
                </c:pt>
                <c:pt idx="5">
                  <c:v>Coffee beans</c:v>
                </c:pt>
                <c:pt idx="6">
                  <c:v>Coffee</c:v>
                </c:pt>
                <c:pt idx="7">
                  <c:v>Branded</c:v>
                </c:pt>
                <c:pt idx="8">
                  <c:v>Bakery</c:v>
                </c:pt>
              </c:strCache>
            </c:strRef>
          </c:cat>
          <c:val>
            <c:numRef>
              <c:f>Report!$C$23:$C$31</c:f>
              <c:numCache>
                <c:formatCode>"R"#\ ##0.00</c:formatCode>
                <c:ptCount val="9"/>
                <c:pt idx="0">
                  <c:v>196405.95000000083</c:v>
                </c:pt>
                <c:pt idx="1">
                  <c:v>4407.6399999999894</c:v>
                </c:pt>
                <c:pt idx="2">
                  <c:v>11213.600000000033</c:v>
                </c:pt>
                <c:pt idx="3">
                  <c:v>8408.8000000000575</c:v>
                </c:pt>
                <c:pt idx="4">
                  <c:v>72416</c:v>
                </c:pt>
                <c:pt idx="5">
                  <c:v>40085.250000000007</c:v>
                </c:pt>
                <c:pt idx="6">
                  <c:v>269952.45000000048</c:v>
                </c:pt>
                <c:pt idx="7">
                  <c:v>13607</c:v>
                </c:pt>
                <c:pt idx="8">
                  <c:v>82315.639999999985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FA-477C-A40F-A4D611FAC2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233609584"/>
        <c:axId val="1233603344"/>
      </c:barChart>
      <c:catAx>
        <c:axId val="12336095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3603344"/>
        <c:crosses val="autoZero"/>
        <c:auto val="1"/>
        <c:lblAlgn val="ctr"/>
        <c:lblOffset val="100"/>
        <c:noMultiLvlLbl val="0"/>
      </c:catAx>
      <c:valAx>
        <c:axId val="12336033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R&quot;#\ 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3609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95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Store Performance Based on Time of Day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95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spPr>
            <a:solidFill>
              <a:schemeClr val="lt1"/>
            </a:solidFill>
            <a:ln w="19050">
              <a:solidFill>
                <a:schemeClr val="accent1"/>
              </a:solidFill>
            </a:ln>
            <a:effectLst/>
          </c:spPr>
          <c:dPt>
            <c:idx val="0"/>
            <c:bubble3D val="0"/>
            <c:spPr>
              <a:solidFill>
                <a:schemeClr val="lt1"/>
              </a:solidFill>
              <a:ln w="1905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887-469D-9E1C-49C83D7AFB65}"/>
              </c:ext>
            </c:extLst>
          </c:dPt>
          <c:dPt>
            <c:idx val="1"/>
            <c:bubble3D val="0"/>
            <c:spPr>
              <a:solidFill>
                <a:schemeClr val="lt1"/>
              </a:solidFill>
              <a:ln w="1905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887-469D-9E1C-49C83D7AFB65}"/>
              </c:ext>
            </c:extLst>
          </c:dPt>
          <c:dPt>
            <c:idx val="2"/>
            <c:bubble3D val="0"/>
            <c:spPr>
              <a:solidFill>
                <a:schemeClr val="lt1"/>
              </a:solidFill>
              <a:ln w="1905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887-469D-9E1C-49C83D7AFB6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accent1">
                      <a:lumMod val="60000"/>
                      <a:lumOff val="4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Report!$B$36:$B$38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Report!$C$36:$C$38</c:f>
              <c:numCache>
                <c:formatCode>"R"#\ ##0.00</c:formatCode>
                <c:ptCount val="3"/>
                <c:pt idx="0">
                  <c:v>244855.14000000141</c:v>
                </c:pt>
                <c:pt idx="1">
                  <c:v>65668.519999999626</c:v>
                </c:pt>
                <c:pt idx="2">
                  <c:v>388288.67000000313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887-469D-9E1C-49C83D7AFB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8">
  <cs:axisTitle>
    <cs:lnRef idx="0"/>
    <cs:fillRef idx="0"/>
    <cs:effectRef idx="0"/>
    <cs:fontRef idx="minor">
      <a:schemeClr val="lt1"/>
    </cs:fontRef>
    <cs:defRPr sz="1197" b="1" kern="1200"/>
  </cs:axisTitle>
  <cs:categoryAxis>
    <cs:lnRef idx="0">
      <cs:styleClr val="0"/>
    </cs:lnRef>
    <cs:fillRef idx="0"/>
    <cs:effectRef idx="0"/>
    <cs:fontRef idx="minor">
      <a:schemeClr val="lt1"/>
    </cs:fontRef>
    <cs:defRPr sz="1197" kern="1200" spc="3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lt1">
            <a:lumMod val="85000"/>
          </a:schemeClr>
        </a:solidFill>
        <a:round/>
      </a:ln>
    </cs:spPr>
    <cs:defRPr sz="1330" kern="1200"/>
  </cs:chartArea>
  <cs:dataLabel>
    <cs:lnRef idx="0"/>
    <cs:fillRef idx="0">
      <cs:styleClr val="0"/>
    </cs:fillRef>
    <cs:effectRef idx="0"/>
    <cs:fontRef idx="minor">
      <a:schemeClr val="lt1"/>
    </cs:fontRef>
    <cs:spPr>
      <a:solidFill>
        <a:schemeClr val="phClr"/>
      </a:solidFill>
    </cs:spPr>
    <cs:defRPr sz="1197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25400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1197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defRPr sz="1197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995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1197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0">
  <cs:axisTitle>
    <cs:lnRef idx="0"/>
    <cs:fillRef idx="0"/>
    <cs:effectRef idx="0"/>
    <cs:fontRef idx="minor">
      <a:schemeClr val="lt1"/>
    </cs:fontRef>
    <cs:defRPr sz="1197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064" kern="1200" cap="all" spc="150" normalizeH="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330" kern="1200"/>
  </cs:chartArea>
  <cs:dataLabel>
    <cs:lnRef idx="0">
      <cs:styleClr val="0"/>
    </cs:lnRef>
    <cs:fillRef idx="0"/>
    <cs:effectRef idx="0"/>
    <cs:fontRef idx="minor">
      <cs:styleClr val="0"/>
    </cs:fontRef>
    <cs:defRPr sz="1197" b="1" kern="1200"/>
  </cs:dataLabel>
  <cs:dataLabelCallout>
    <cs:lnRef idx="0">
      <cs:styleClr val="0"/>
    </cs:lnRef>
    <cs:fillRef idx="0"/>
    <cs:effectRef idx="0"/>
    <cs:fontRef idx="minor">
      <cs:styleClr val="0"/>
    </cs:fontRef>
    <cs:spPr>
      <a:solidFill>
        <a:schemeClr val="lt1"/>
      </a:solidFill>
      <a:ln>
        <a:solidFill>
          <a:schemeClr val="phClr"/>
        </a:solidFill>
      </a:ln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0"/>
    </cs:lnRef>
    <cs:fillRef idx="0"/>
    <cs:effectRef idx="0"/>
    <cs:fontRef idx="minor">
      <a:schemeClr val="dk1"/>
    </cs:fontRef>
    <cs:spPr>
      <a:solidFill>
        <a:schemeClr val="lt1"/>
      </a:solidFill>
      <a:ln w="19050"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1197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197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995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1197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698C0E1-628D-4A29-932B-81EFC1D54B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4E1657-5A73-426A-A66E-C4F85559BE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0B55D-A28C-4981-AA30-62D8B2215F35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BF12EE-0BCA-4112-A66D-A1C7DDACEE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59303C-1C5B-4166-91D0-954E1FF8A25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1B084-08CE-4CE2-A230-03FB2D2096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625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3E07F7-7765-40B0-95C6-6F0178FC4D78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4B07EB-3CEE-4B2A-A06F-03C965D4E9F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29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BFE780-4B97-4708-B97F-94D8ADC6D79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67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8C22AF-75C7-433B-B852-69970FBFF62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27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D7BE9-6C4F-48E9-816E-E7C44694421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3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D7BE9-6C4F-48E9-816E-E7C44694421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915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B07EB-3CEE-4B2A-A06F-03C965D4E9F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3868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D7BE9-6C4F-48E9-816E-E7C44694421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2680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153A1-7403-3CB9-4A37-3322D9A49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2B79CD-7365-5B92-9E83-BAE35E875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E9A0E0-B3A3-BDC1-CC73-E2A550A57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4C83A-A2BA-DC16-A88E-8367765DFE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D7BE9-6C4F-48E9-816E-E7C44694421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9868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D7BE9-6C4F-48E9-816E-E7C44694421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567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958888C-33C4-45BB-9053-0F238EBC25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 useBgFill="1">
        <p:nvSpPr>
          <p:cNvPr id="10" name="Title 1">
            <a:extLst>
              <a:ext uri="{FF2B5EF4-FFF2-40B4-BE49-F238E27FC236}">
                <a16:creationId xmlns:a16="http://schemas.microsoft.com/office/drawing/2014/main" id="{E234E1C5-BD1C-4142-BA62-2A1D902B60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3430" y="1762887"/>
            <a:ext cx="7665140" cy="2140251"/>
          </a:xfrm>
        </p:spPr>
        <p:txBody>
          <a:bodyPr tIns="365760" anchor="ctr">
            <a:normAutofit/>
          </a:bodyPr>
          <a:lstStyle>
            <a:lvl1pPr algn="ctr">
              <a:defRPr sz="5400"/>
            </a:lvl1pPr>
          </a:lstStyle>
          <a:p>
            <a:r>
              <a:rPr lang="en-US" sz="4800"/>
              <a:t>Click to edit Master title style</a:t>
            </a:r>
            <a:endParaRPr lang="en-US" sz="4800" dirty="0"/>
          </a:p>
        </p:txBody>
      </p:sp>
      <p:sp useBgFill="1">
        <p:nvSpPr>
          <p:cNvPr id="12" name="Subtitle 2" descr="Tag=AccentColor&#10;Flavor=Light&#10;Target=Text">
            <a:extLst>
              <a:ext uri="{FF2B5EF4-FFF2-40B4-BE49-F238E27FC236}">
                <a16:creationId xmlns:a16="http://schemas.microsoft.com/office/drawing/2014/main" id="{DED57426-1707-4704-8E09-2F7609051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3430" y="3903138"/>
            <a:ext cx="7665139" cy="119197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301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B2FCC-99C4-4C2B-99B4-9C5E13D53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0975" y="782122"/>
            <a:ext cx="3619500" cy="2492828"/>
          </a:xfrm>
        </p:spPr>
        <p:txBody>
          <a:bodyPr anchor="b"/>
          <a:lstStyle>
            <a:lvl1pPr algn="l">
              <a:spcBef>
                <a:spcPts val="960"/>
              </a:spcBef>
              <a:spcAft>
                <a:spcPts val="600"/>
              </a:spcAft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958888C-33C4-45BB-9053-0F238EBC25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4740" y="0"/>
            <a:ext cx="3754712" cy="2675444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B5F49914-A317-424F-9214-203370D767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49972" y="0"/>
            <a:ext cx="3793815" cy="2675444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B68EE34D-80C0-4CEE-99D1-3C91F6626DF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4740" y="2675444"/>
            <a:ext cx="7543904" cy="4182556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5E34894-A499-4CC3-9F3E-BB0B1268C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5" y="6000749"/>
            <a:ext cx="66728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F37D4A7-7BA4-4331-82C1-818D1B5B05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42275" y="3592286"/>
            <a:ext cx="3619500" cy="199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879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3335" y="1233378"/>
            <a:ext cx="5697102" cy="1405366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3795" y="3002281"/>
            <a:ext cx="5686437" cy="2271393"/>
          </a:xfrm>
        </p:spPr>
        <p:txBody>
          <a:bodyPr anchor="t">
            <a:normAutofit/>
          </a:bodyPr>
          <a:lstStyle>
            <a:lvl1pPr marL="0" indent="0" algn="ctr">
              <a:buNone/>
              <a:defRPr lang="en-US" sz="2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Calibri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93FCD85-64A9-4257-8703-568A1629E1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96864" y="0"/>
            <a:ext cx="457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47AB1B-8039-41F6-A255-B03F33FB6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01468" y="1"/>
            <a:ext cx="4690532" cy="6858000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BC8FC98-420D-47E9-A6BF-65337349F5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16EE41C-5E1E-448A-AC09-A8C32B4A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00749"/>
            <a:ext cx="753545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73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693" y="4913529"/>
            <a:ext cx="9440034" cy="68069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9CC1453-4E18-4960-B6D5-529F625B9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5713343"/>
            <a:ext cx="9440034" cy="436942"/>
          </a:xfrm>
        </p:spPr>
        <p:txBody>
          <a:bodyPr/>
          <a:lstStyle>
            <a:lvl1pPr marL="36900" indent="0" algn="ctr"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ADDA07CD-6F66-4875-B1ED-5D11B9642B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2938" y="642938"/>
            <a:ext cx="5130800" cy="33035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E1CB1643-335F-4FF9-8A42-C565276130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17733" y="642937"/>
            <a:ext cx="5130800" cy="33035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843549-5E1B-48B7-A510-624588410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12192001" cy="4322278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B5FF67-7EEC-4AB0-8445-132F99922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96000" y="1609536"/>
            <a:ext cx="0" cy="1371600"/>
          </a:xfrm>
          <a:prstGeom prst="line">
            <a:avLst/>
          </a:prstGeom>
          <a:ln w="19050">
            <a:solidFill>
              <a:schemeClr val="tx1">
                <a:lumMod val="7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3172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hart, table,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902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6754A53-50F5-4BFC-9D4B-69FF19B57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01468" y="1"/>
            <a:ext cx="469053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E3AA4C-F452-4742-B62F-D92ACEB05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948" y="1233378"/>
            <a:ext cx="5441285" cy="2911902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4A6F582-B177-429F-8965-8FC2335DB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8948" y="4495800"/>
            <a:ext cx="5441286" cy="777874"/>
          </a:xfrm>
        </p:spPr>
        <p:txBody>
          <a:bodyPr/>
          <a:lstStyle>
            <a:lvl1pPr marL="36900" indent="0" algn="ctr"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708956-7306-4C30-B1DF-68E2666A2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6" y="6000749"/>
            <a:ext cx="5686438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F5FA9922-F4B7-458A-B446-58C5673A30D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48600" y="642938"/>
            <a:ext cx="3700463" cy="26257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A931B751-CD27-4E96-B65A-1D983D2650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48600" y="3600901"/>
            <a:ext cx="3700463" cy="26257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807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9B87676-021D-46A4-8D5E-AAB45A5F2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0053" y="2057400"/>
            <a:ext cx="2359477" cy="2743200"/>
          </a:xfrm>
          <a:prstGeom prst="rect">
            <a:avLst/>
          </a:prstGeom>
          <a:solidFill>
            <a:schemeClr val="tx1"/>
          </a:solidFill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3E2461C8-280B-42BE-8793-5F1B2C4C0A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3796" y="2327275"/>
            <a:ext cx="1827818" cy="2181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56D654-5693-4897-AD58-F42CEECEC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52764" y="2057400"/>
            <a:ext cx="2359477" cy="2743200"/>
          </a:xfrm>
          <a:prstGeom prst="rect">
            <a:avLst/>
          </a:prstGeom>
          <a:solidFill>
            <a:schemeClr val="tx1"/>
          </a:solidFill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7D5C18-F020-4168-9A98-D4162006A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45475" y="2057400"/>
            <a:ext cx="2359477" cy="2743200"/>
          </a:xfrm>
          <a:prstGeom prst="rect">
            <a:avLst/>
          </a:prstGeom>
          <a:solidFill>
            <a:schemeClr val="tx1"/>
          </a:solidFill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19BC3A-55C2-47AD-93E5-368070939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8186" y="2043502"/>
            <a:ext cx="2359477" cy="2743200"/>
          </a:xfrm>
          <a:prstGeom prst="rect">
            <a:avLst/>
          </a:prstGeom>
          <a:solidFill>
            <a:schemeClr val="tx1"/>
          </a:solidFill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Picture Placeholder 31">
            <a:extLst>
              <a:ext uri="{FF2B5EF4-FFF2-40B4-BE49-F238E27FC236}">
                <a16:creationId xmlns:a16="http://schemas.microsoft.com/office/drawing/2014/main" id="{E249A1C0-506E-4C49-A763-DA0BF00B5A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8593" y="2327275"/>
            <a:ext cx="1827818" cy="2181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1">
            <a:extLst>
              <a:ext uri="{FF2B5EF4-FFF2-40B4-BE49-F238E27FC236}">
                <a16:creationId xmlns:a16="http://schemas.microsoft.com/office/drawing/2014/main" id="{C9B12B3E-6E6A-4B9F-BCDC-ABAB3007AE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11305" y="2327275"/>
            <a:ext cx="1827818" cy="2181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1">
            <a:extLst>
              <a:ext uri="{FF2B5EF4-FFF2-40B4-BE49-F238E27FC236}">
                <a16:creationId xmlns:a16="http://schemas.microsoft.com/office/drawing/2014/main" id="{961CEF8D-8303-439E-BDF8-3983FAE33E1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04015" y="2327275"/>
            <a:ext cx="1827818" cy="21812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Text Placeholder 27">
            <a:extLst>
              <a:ext uri="{FF2B5EF4-FFF2-40B4-BE49-F238E27FC236}">
                <a16:creationId xmlns:a16="http://schemas.microsoft.com/office/drawing/2014/main" id="{4BDD0E13-DDEB-44F9-8676-F704050158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0054" y="5017734"/>
            <a:ext cx="2359476" cy="350292"/>
          </a:xfrm>
        </p:spPr>
        <p:txBody>
          <a:bodyPr>
            <a:normAutofit/>
          </a:bodyPr>
          <a:lstStyle>
            <a:lvl1pPr marL="3690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7">
            <a:extLst>
              <a:ext uri="{FF2B5EF4-FFF2-40B4-BE49-F238E27FC236}">
                <a16:creationId xmlns:a16="http://schemas.microsoft.com/office/drawing/2014/main" id="{51948158-9C97-4517-B0D3-4085249937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0054" y="5352052"/>
            <a:ext cx="2359476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7">
            <a:extLst>
              <a:ext uri="{FF2B5EF4-FFF2-40B4-BE49-F238E27FC236}">
                <a16:creationId xmlns:a16="http://schemas.microsoft.com/office/drawing/2014/main" id="{CA53CE84-6890-4263-ABB8-F39819C6A43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52764" y="5017734"/>
            <a:ext cx="2359476" cy="350292"/>
          </a:xfrm>
        </p:spPr>
        <p:txBody>
          <a:bodyPr>
            <a:normAutofit/>
          </a:bodyPr>
          <a:lstStyle>
            <a:lvl1pPr marL="3690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7">
            <a:extLst>
              <a:ext uri="{FF2B5EF4-FFF2-40B4-BE49-F238E27FC236}">
                <a16:creationId xmlns:a16="http://schemas.microsoft.com/office/drawing/2014/main" id="{2C891989-38F5-4F8A-AD02-DBBD0666D1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52764" y="5352052"/>
            <a:ext cx="2359476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7">
            <a:extLst>
              <a:ext uri="{FF2B5EF4-FFF2-40B4-BE49-F238E27FC236}">
                <a16:creationId xmlns:a16="http://schemas.microsoft.com/office/drawing/2014/main" id="{470811B1-7881-44B2-88EA-0D7D0EE5CB0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45474" y="5017734"/>
            <a:ext cx="2359476" cy="350292"/>
          </a:xfrm>
        </p:spPr>
        <p:txBody>
          <a:bodyPr>
            <a:normAutofit/>
          </a:bodyPr>
          <a:lstStyle>
            <a:lvl1pPr marL="3690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7">
            <a:extLst>
              <a:ext uri="{FF2B5EF4-FFF2-40B4-BE49-F238E27FC236}">
                <a16:creationId xmlns:a16="http://schemas.microsoft.com/office/drawing/2014/main" id="{42DCE357-186A-457C-951C-49B33EE59F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5474" y="5352052"/>
            <a:ext cx="2359476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7">
            <a:extLst>
              <a:ext uri="{FF2B5EF4-FFF2-40B4-BE49-F238E27FC236}">
                <a16:creationId xmlns:a16="http://schemas.microsoft.com/office/drawing/2014/main" id="{125640C8-2610-4EE2-B7DB-43B69762CA6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38184" y="5017734"/>
            <a:ext cx="2359476" cy="350292"/>
          </a:xfrm>
        </p:spPr>
        <p:txBody>
          <a:bodyPr>
            <a:normAutofit/>
          </a:bodyPr>
          <a:lstStyle>
            <a:lvl1pPr marL="36900" indent="0" algn="ctr">
              <a:buNone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7">
            <a:extLst>
              <a:ext uri="{FF2B5EF4-FFF2-40B4-BE49-F238E27FC236}">
                <a16:creationId xmlns:a16="http://schemas.microsoft.com/office/drawing/2014/main" id="{A681FDE6-437A-4435-B435-9E095137BA7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38184" y="5352052"/>
            <a:ext cx="2359476" cy="350292"/>
          </a:xfrm>
        </p:spPr>
        <p:txBody>
          <a:bodyPr>
            <a:noAutofit/>
          </a:bodyPr>
          <a:lstStyle>
            <a:lvl1pPr marL="36900" indent="0" algn="ctr">
              <a:buNone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009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2 column (comparison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37B721FF-D609-4D98-9D19-CF75AA8A5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73936BD-C868-433F-8E84-D6DD8E640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28224A9-CB7A-4D21-8CA0-38125E298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4268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37B721FF-D609-4D98-9D19-CF75AA8A5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040" y="1734506"/>
            <a:ext cx="3359592" cy="40999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73936BD-C868-433F-8E84-D6DD8E640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6204" y="1734506"/>
            <a:ext cx="3359592" cy="4099959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1623" y="1855153"/>
            <a:ext cx="318294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1623" y="2702103"/>
            <a:ext cx="318294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9579" y="1855152"/>
            <a:ext cx="3192843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9579" y="2702103"/>
            <a:ext cx="3192842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CB356B5-0EDC-4245-8878-C19DA25A3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904" y="1734506"/>
            <a:ext cx="3359592" cy="4099959"/>
          </a:xfrm>
          <a:prstGeom prst="rect">
            <a:avLst/>
          </a:prstGeom>
        </p:spPr>
      </p:pic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56C3DD2-AE94-4BA5-920E-A7EEE19296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35279" y="1855152"/>
            <a:ext cx="3192843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04BCB055-753B-4006-BF3C-73FC5A3C25D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35279" y="2702103"/>
            <a:ext cx="3192842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E1D954F-2A50-4751-9E47-BB4B7BD61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31621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FDB9BCB-0C27-46E1-90C0-AADF00541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0649" y="1"/>
            <a:ext cx="469053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9441" y="1233378"/>
            <a:ext cx="5898114" cy="1357422"/>
          </a:xfrm>
        </p:spPr>
        <p:txBody>
          <a:bodyPr anchor="b">
            <a:noAutofit/>
          </a:bodyPr>
          <a:lstStyle>
            <a:lvl1pPr algn="ctr">
              <a:defRPr lang="en-US" sz="4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 descr="Tag=AccentColor&#10;Flavor=Light&#10;Target=Text">
            <a:extLst>
              <a:ext uri="{FF2B5EF4-FFF2-40B4-BE49-F238E27FC236}">
                <a16:creationId xmlns:a16="http://schemas.microsoft.com/office/drawing/2014/main" id="{61821B46-FA47-4BEB-A735-3A8E1161FD7A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369440" y="2895601"/>
            <a:ext cx="5898115" cy="2378074"/>
          </a:xfrm>
        </p:spPr>
        <p:txBody>
          <a:bodyPr>
            <a:normAutofit/>
          </a:bodyPr>
          <a:lstStyle>
            <a:lvl1pPr marL="36900" indent="0"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F220894-C699-4E12-9EB4-2318F23E4A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1113" y="0"/>
            <a:ext cx="4583113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034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958888C-33C4-45BB-9053-0F238EBC25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 useBgFill="1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6676" y="1572884"/>
            <a:ext cx="4100417" cy="2585050"/>
          </a:xfrm>
        </p:spPr>
        <p:txBody>
          <a:bodyPr lIns="274320" anchor="ctr">
            <a:normAutofit/>
          </a:bodyPr>
          <a:lstStyle>
            <a:lvl1pPr algn="l">
              <a:defRPr lang="en-US" sz="40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 useBgFill="1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6675" y="4157934"/>
            <a:ext cx="4100418" cy="1446364"/>
          </a:xfrm>
        </p:spPr>
        <p:txBody>
          <a:bodyPr lIns="274320" anchor="t">
            <a:normAutofit/>
          </a:bodyPr>
          <a:lstStyle>
            <a:lvl1pPr marL="342900" indent="-306000" algn="l" defTabSz="457200" rtl="0" eaLnBrk="1" latinLnBrk="0" hangingPunct="1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lang="en-US" sz="1600" kern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259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5218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2" r:id="rId1"/>
    <p:sldLayoutId id="2147483681" r:id="rId2"/>
    <p:sldLayoutId id="2147483679" r:id="rId3"/>
    <p:sldLayoutId id="2147483664" r:id="rId4"/>
    <p:sldLayoutId id="2147483660" r:id="rId5"/>
    <p:sldLayoutId id="2147483677" r:id="rId6"/>
    <p:sldLayoutId id="2147483678" r:id="rId7"/>
    <p:sldLayoutId id="2147483663" r:id="rId8"/>
    <p:sldLayoutId id="2147483676" r:id="rId9"/>
    <p:sldLayoutId id="2147483680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chart" Target="../charts/chart4.xml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Placeholder 21" descr="A picture containing wall, wooden, indoor, table">
            <a:extLst>
              <a:ext uri="{FF2B5EF4-FFF2-40B4-BE49-F238E27FC236}">
                <a16:creationId xmlns:a16="http://schemas.microsoft.com/office/drawing/2014/main" id="{E2888B94-BE50-4E48-8F75-1E8AAD5AFA9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 useBgFill="1">
        <p:nvSpPr>
          <p:cNvPr id="18" name="Title 17">
            <a:extLst>
              <a:ext uri="{FF2B5EF4-FFF2-40B4-BE49-F238E27FC236}">
                <a16:creationId xmlns:a16="http://schemas.microsoft.com/office/drawing/2014/main" id="{7F1C1DC8-8566-416D-A699-06A29F45B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26860" y="4021558"/>
            <a:ext cx="7665140" cy="2140251"/>
          </a:xfrm>
        </p:spPr>
        <p:txBody>
          <a:bodyPr>
            <a:normAutofit fontScale="90000"/>
          </a:bodyPr>
          <a:lstStyle/>
          <a:p>
            <a:r>
              <a:rPr lang="en-US" dirty="0"/>
              <a:t>Bright Coffee Shop</a:t>
            </a:r>
            <a:br>
              <a:rPr lang="en-US" baseline="30000" dirty="0"/>
            </a:br>
            <a:br>
              <a:rPr lang="en-US" baseline="30000" dirty="0"/>
            </a:br>
            <a:r>
              <a:rPr lang="en-US" baseline="30000" dirty="0"/>
              <a:t>Sales Analysis</a:t>
            </a:r>
          </a:p>
        </p:txBody>
      </p:sp>
    </p:spTree>
    <p:extLst>
      <p:ext uri="{BB962C8B-B14F-4D97-AF65-F5344CB8AC3E}">
        <p14:creationId xmlns:p14="http://schemas.microsoft.com/office/powerpoint/2010/main" val="319640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69">
            <a:extLst>
              <a:ext uri="{FF2B5EF4-FFF2-40B4-BE49-F238E27FC236}">
                <a16:creationId xmlns:a16="http://schemas.microsoft.com/office/drawing/2014/main" id="{AD0FAE4B-37EE-4B93-881F-3DB9A2B03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9612" y="732961"/>
            <a:ext cx="4064825" cy="722213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41" name="Picture Placeholder 40" descr="A picture containing open sign in a window">
            <a:extLst>
              <a:ext uri="{FF2B5EF4-FFF2-40B4-BE49-F238E27FC236}">
                <a16:creationId xmlns:a16="http://schemas.microsoft.com/office/drawing/2014/main" id="{AA02CD6D-6B8C-4E5D-ADA1-EDE5CF5541B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740" y="0"/>
            <a:ext cx="3754712" cy="2675444"/>
          </a:xfrm>
        </p:spPr>
      </p:pic>
      <p:pic>
        <p:nvPicPr>
          <p:cNvPr id="45" name="Picture Placeholder 44" descr="A picture containing tableware">
            <a:extLst>
              <a:ext uri="{FF2B5EF4-FFF2-40B4-BE49-F238E27FC236}">
                <a16:creationId xmlns:a16="http://schemas.microsoft.com/office/drawing/2014/main" id="{1A565340-6612-43BB-8B80-C72700DD933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49972" y="0"/>
            <a:ext cx="3793815" cy="2675444"/>
          </a:xfrm>
        </p:spPr>
      </p:pic>
      <p:pic>
        <p:nvPicPr>
          <p:cNvPr id="49" name="Picture Placeholder 48" descr="A picture containing person, table, wooden, meal">
            <a:extLst>
              <a:ext uri="{FF2B5EF4-FFF2-40B4-BE49-F238E27FC236}">
                <a16:creationId xmlns:a16="http://schemas.microsoft.com/office/drawing/2014/main" id="{0D8BC8F5-4101-493D-9289-8D175DE9D79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740" y="2675444"/>
            <a:ext cx="7543904" cy="4182556"/>
          </a:xfrm>
        </p:spPr>
      </p:pic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777AD14-B633-4803-B2EF-CF2A208D1E2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819612" y="1934497"/>
            <a:ext cx="3842162" cy="2989006"/>
          </a:xfrm>
        </p:spPr>
        <p:txBody>
          <a:bodyPr>
            <a:normAutofit/>
          </a:bodyPr>
          <a:lstStyle/>
          <a:p>
            <a:r>
              <a:rPr lang="en-US" dirty="0"/>
              <a:t>Bright Coffee Shop is an upmarket coffee shop selling a wide variety of beverages and delicious baked goods.</a:t>
            </a:r>
          </a:p>
          <a:p>
            <a:endParaRPr lang="en-US" dirty="0"/>
          </a:p>
          <a:p>
            <a:r>
              <a:rPr lang="en-US" dirty="0"/>
              <a:t>The store currently has three locations.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899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20" descr="A person holding an open sign in a window">
            <a:extLst>
              <a:ext uri="{FF2B5EF4-FFF2-40B4-BE49-F238E27FC236}">
                <a16:creationId xmlns:a16="http://schemas.microsoft.com/office/drawing/2014/main" id="{FF9E2F27-0A96-4978-B761-6D73AA56EC0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12588" y="2846698"/>
            <a:ext cx="5130800" cy="3303587"/>
          </a:xfr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B1FDC50C-3BD6-FAFC-91B8-F70D7E0623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989452B-9DF3-5F4C-42F4-4393A4CF5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357" y="2846698"/>
            <a:ext cx="9440034" cy="680691"/>
          </a:xfrm>
        </p:spPr>
        <p:txBody>
          <a:bodyPr>
            <a:normAutofit fontScale="90000"/>
          </a:bodyPr>
          <a:lstStyle/>
          <a:p>
            <a:pPr algn="l"/>
            <a:r>
              <a:rPr lang="en-ZA" sz="7300" dirty="0"/>
              <a:t>Total Sales</a:t>
            </a:r>
            <a:br>
              <a:rPr lang="en-ZA" sz="7300" dirty="0"/>
            </a:br>
            <a:r>
              <a:rPr lang="en-ZA" sz="7300" dirty="0"/>
              <a:t>R698 812.33</a:t>
            </a:r>
            <a:br>
              <a:rPr lang="en-ZA" dirty="0"/>
            </a:b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12041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702B083-54F7-41CA-9C6D-B87D35683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43047E-FBFD-4F79-BCA5-10E69740F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609599"/>
            <a:ext cx="2799465" cy="5273675"/>
          </a:xfrm>
        </p:spPr>
        <p:txBody>
          <a:bodyPr>
            <a:normAutofit/>
          </a:bodyPr>
          <a:lstStyle/>
          <a:p>
            <a:pPr algn="l"/>
            <a:r>
              <a:rPr lang="en-US"/>
              <a:t>Chart</a:t>
            </a:r>
          </a:p>
        </p:txBody>
      </p:sp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92AA17E1-8D32-49FA-8C33-D57631B4E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83806" y="-2"/>
            <a:ext cx="8108194" cy="6858002"/>
          </a:xfrm>
          <a:custGeom>
            <a:avLst/>
            <a:gdLst>
              <a:gd name="connsiteX0" fmla="*/ 4629960 w 8108194"/>
              <a:gd name="connsiteY0" fmla="*/ 0 h 6858002"/>
              <a:gd name="connsiteX1" fmla="*/ 0 w 8108194"/>
              <a:gd name="connsiteY1" fmla="*/ 0 h 6858002"/>
              <a:gd name="connsiteX2" fmla="*/ 0 w 8108194"/>
              <a:gd name="connsiteY2" fmla="*/ 6858002 h 6858002"/>
              <a:gd name="connsiteX3" fmla="*/ 1406984 w 8108194"/>
              <a:gd name="connsiteY3" fmla="*/ 6858002 h 6858002"/>
              <a:gd name="connsiteX4" fmla="*/ 4629960 w 8108194"/>
              <a:gd name="connsiteY4" fmla="*/ 6858002 h 6858002"/>
              <a:gd name="connsiteX5" fmla="*/ 7761129 w 8108194"/>
              <a:gd name="connsiteY5" fmla="*/ 6858002 h 6858002"/>
              <a:gd name="connsiteX6" fmla="*/ 7795626 w 8108194"/>
              <a:gd name="connsiteY6" fmla="*/ 6702327 h 6858002"/>
              <a:gd name="connsiteX7" fmla="*/ 7828504 w 8108194"/>
              <a:gd name="connsiteY7" fmla="*/ 6547336 h 6858002"/>
              <a:gd name="connsiteX8" fmla="*/ 7860686 w 8108194"/>
              <a:gd name="connsiteY8" fmla="*/ 6391660 h 6858002"/>
              <a:gd name="connsiteX9" fmla="*/ 7888239 w 8108194"/>
              <a:gd name="connsiteY9" fmla="*/ 6235297 h 6858002"/>
              <a:gd name="connsiteX10" fmla="*/ 7916023 w 8108194"/>
              <a:gd name="connsiteY10" fmla="*/ 6079621 h 6858002"/>
              <a:gd name="connsiteX11" fmla="*/ 7941955 w 8108194"/>
              <a:gd name="connsiteY11" fmla="*/ 5923258 h 6858002"/>
              <a:gd name="connsiteX12" fmla="*/ 7964181 w 8108194"/>
              <a:gd name="connsiteY12" fmla="*/ 5768953 h 6858002"/>
              <a:gd name="connsiteX13" fmla="*/ 7985250 w 8108194"/>
              <a:gd name="connsiteY13" fmla="*/ 5612591 h 6858002"/>
              <a:gd name="connsiteX14" fmla="*/ 8004468 w 8108194"/>
              <a:gd name="connsiteY14" fmla="*/ 5456914 h 6858002"/>
              <a:gd name="connsiteX15" fmla="*/ 8021137 w 8108194"/>
              <a:gd name="connsiteY15" fmla="*/ 5303981 h 6858002"/>
              <a:gd name="connsiteX16" fmla="*/ 8037808 w 8108194"/>
              <a:gd name="connsiteY16" fmla="*/ 5148990 h 6858002"/>
              <a:gd name="connsiteX17" fmla="*/ 8051700 w 8108194"/>
              <a:gd name="connsiteY17" fmla="*/ 4996057 h 6858002"/>
              <a:gd name="connsiteX18" fmla="*/ 8062581 w 8108194"/>
              <a:gd name="connsiteY18" fmla="*/ 4843123 h 6858002"/>
              <a:gd name="connsiteX19" fmla="*/ 8073927 w 8108194"/>
              <a:gd name="connsiteY19" fmla="*/ 4690876 h 6858002"/>
              <a:gd name="connsiteX20" fmla="*/ 8083419 w 8108194"/>
              <a:gd name="connsiteY20" fmla="*/ 4540000 h 6858002"/>
              <a:gd name="connsiteX21" fmla="*/ 8090134 w 8108194"/>
              <a:gd name="connsiteY21" fmla="*/ 4390495 h 6858002"/>
              <a:gd name="connsiteX22" fmla="*/ 8095922 w 8108194"/>
              <a:gd name="connsiteY22" fmla="*/ 4240991 h 6858002"/>
              <a:gd name="connsiteX23" fmla="*/ 8101479 w 8108194"/>
              <a:gd name="connsiteY23" fmla="*/ 4092858 h 6858002"/>
              <a:gd name="connsiteX24" fmla="*/ 8104026 w 8108194"/>
              <a:gd name="connsiteY24" fmla="*/ 3946783 h 6858002"/>
              <a:gd name="connsiteX25" fmla="*/ 8106804 w 8108194"/>
              <a:gd name="connsiteY25" fmla="*/ 3800707 h 6858002"/>
              <a:gd name="connsiteX26" fmla="*/ 8108194 w 8108194"/>
              <a:gd name="connsiteY26" fmla="*/ 3656689 h 6858002"/>
              <a:gd name="connsiteX27" fmla="*/ 8106804 w 8108194"/>
              <a:gd name="connsiteY27" fmla="*/ 3514043 h 6858002"/>
              <a:gd name="connsiteX28" fmla="*/ 8106804 w 8108194"/>
              <a:gd name="connsiteY28" fmla="*/ 3372768 h 6858002"/>
              <a:gd name="connsiteX29" fmla="*/ 8104026 w 8108194"/>
              <a:gd name="connsiteY29" fmla="*/ 3232865 h 6858002"/>
              <a:gd name="connsiteX30" fmla="*/ 8099859 w 8108194"/>
              <a:gd name="connsiteY30" fmla="*/ 3095705 h 6858002"/>
              <a:gd name="connsiteX31" fmla="*/ 8095922 w 8108194"/>
              <a:gd name="connsiteY31" fmla="*/ 2959917 h 6858002"/>
              <a:gd name="connsiteX32" fmla="*/ 8091523 w 8108194"/>
              <a:gd name="connsiteY32" fmla="*/ 2826871 h 6858002"/>
              <a:gd name="connsiteX33" fmla="*/ 8084809 w 8108194"/>
              <a:gd name="connsiteY33" fmla="*/ 2694512 h 6858002"/>
              <a:gd name="connsiteX34" fmla="*/ 8077631 w 8108194"/>
              <a:gd name="connsiteY34" fmla="*/ 2564211 h 6858002"/>
              <a:gd name="connsiteX35" fmla="*/ 8071149 w 8108194"/>
              <a:gd name="connsiteY35" fmla="*/ 2436652 h 6858002"/>
              <a:gd name="connsiteX36" fmla="*/ 8052857 w 8108194"/>
              <a:gd name="connsiteY36" fmla="*/ 2187706 h 6858002"/>
              <a:gd name="connsiteX37" fmla="*/ 8033409 w 8108194"/>
              <a:gd name="connsiteY37" fmla="*/ 1949048 h 6858002"/>
              <a:gd name="connsiteX38" fmla="*/ 8013034 w 8108194"/>
              <a:gd name="connsiteY38" fmla="*/ 1719991 h 6858002"/>
              <a:gd name="connsiteX39" fmla="*/ 7990575 w 8108194"/>
              <a:gd name="connsiteY39" fmla="*/ 1503278 h 6858002"/>
              <a:gd name="connsiteX40" fmla="*/ 7967191 w 8108194"/>
              <a:gd name="connsiteY40" fmla="*/ 1296166 h 6858002"/>
              <a:gd name="connsiteX41" fmla="*/ 7941955 w 8108194"/>
              <a:gd name="connsiteY41" fmla="*/ 1104142 h 6858002"/>
              <a:gd name="connsiteX42" fmla="*/ 7917180 w 8108194"/>
              <a:gd name="connsiteY42" fmla="*/ 923777 h 6858002"/>
              <a:gd name="connsiteX43" fmla="*/ 7892407 w 8108194"/>
              <a:gd name="connsiteY43" fmla="*/ 757813 h 6858002"/>
              <a:gd name="connsiteX44" fmla="*/ 7869022 w 8108194"/>
              <a:gd name="connsiteY44" fmla="*/ 605566 h 6858002"/>
              <a:gd name="connsiteX45" fmla="*/ 7846795 w 8108194"/>
              <a:gd name="connsiteY45" fmla="*/ 470463 h 6858002"/>
              <a:gd name="connsiteX46" fmla="*/ 7825725 w 8108194"/>
              <a:gd name="connsiteY46" fmla="*/ 348391 h 6858002"/>
              <a:gd name="connsiteX47" fmla="*/ 7808129 w 8108194"/>
              <a:gd name="connsiteY47" fmla="*/ 245521 h 6858002"/>
              <a:gd name="connsiteX48" fmla="*/ 7791459 w 8108194"/>
              <a:gd name="connsiteY48" fmla="*/ 159110 h 6858002"/>
              <a:gd name="connsiteX49" fmla="*/ 7767610 w 8108194"/>
              <a:gd name="connsiteY49" fmla="*/ 40466 h 6858002"/>
              <a:gd name="connsiteX50" fmla="*/ 7759507 w 8108194"/>
              <a:gd name="connsiteY50" fmla="*/ 4 h 6858002"/>
              <a:gd name="connsiteX51" fmla="*/ 7768809 w 8108194"/>
              <a:gd name="connsiteY51" fmla="*/ 4 h 6858002"/>
              <a:gd name="connsiteX52" fmla="*/ 7768809 w 8108194"/>
              <a:gd name="connsiteY52" fmla="*/ 3 h 6858002"/>
              <a:gd name="connsiteX53" fmla="*/ 4629960 w 8108194"/>
              <a:gd name="connsiteY53" fmla="*/ 3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8108194" h="6858002">
                <a:moveTo>
                  <a:pt x="4629960" y="0"/>
                </a:moveTo>
                <a:lnTo>
                  <a:pt x="0" y="0"/>
                </a:lnTo>
                <a:lnTo>
                  <a:pt x="0" y="6858002"/>
                </a:lnTo>
                <a:lnTo>
                  <a:pt x="1406984" y="6858002"/>
                </a:lnTo>
                <a:lnTo>
                  <a:pt x="4629960" y="6858002"/>
                </a:lnTo>
                <a:lnTo>
                  <a:pt x="7761129" y="6858002"/>
                </a:lnTo>
                <a:lnTo>
                  <a:pt x="7795626" y="6702327"/>
                </a:lnTo>
                <a:lnTo>
                  <a:pt x="7828504" y="6547336"/>
                </a:lnTo>
                <a:lnTo>
                  <a:pt x="7860686" y="6391660"/>
                </a:lnTo>
                <a:lnTo>
                  <a:pt x="7888239" y="6235297"/>
                </a:lnTo>
                <a:lnTo>
                  <a:pt x="7916023" y="6079621"/>
                </a:lnTo>
                <a:lnTo>
                  <a:pt x="7941955" y="5923258"/>
                </a:lnTo>
                <a:lnTo>
                  <a:pt x="7964181" y="5768953"/>
                </a:lnTo>
                <a:lnTo>
                  <a:pt x="7985250" y="5612591"/>
                </a:lnTo>
                <a:lnTo>
                  <a:pt x="8004468" y="5456914"/>
                </a:lnTo>
                <a:lnTo>
                  <a:pt x="8021137" y="5303981"/>
                </a:lnTo>
                <a:lnTo>
                  <a:pt x="8037808" y="5148990"/>
                </a:lnTo>
                <a:lnTo>
                  <a:pt x="8051700" y="4996057"/>
                </a:lnTo>
                <a:lnTo>
                  <a:pt x="8062581" y="4843123"/>
                </a:lnTo>
                <a:lnTo>
                  <a:pt x="8073927" y="4690876"/>
                </a:lnTo>
                <a:lnTo>
                  <a:pt x="8083419" y="4540000"/>
                </a:lnTo>
                <a:lnTo>
                  <a:pt x="8090134" y="4390495"/>
                </a:lnTo>
                <a:lnTo>
                  <a:pt x="8095922" y="4240991"/>
                </a:lnTo>
                <a:lnTo>
                  <a:pt x="8101479" y="4092858"/>
                </a:lnTo>
                <a:lnTo>
                  <a:pt x="8104026" y="3946783"/>
                </a:lnTo>
                <a:lnTo>
                  <a:pt x="8106804" y="3800707"/>
                </a:lnTo>
                <a:lnTo>
                  <a:pt x="8108194" y="3656689"/>
                </a:lnTo>
                <a:lnTo>
                  <a:pt x="8106804" y="3514043"/>
                </a:lnTo>
                <a:lnTo>
                  <a:pt x="8106804" y="3372768"/>
                </a:lnTo>
                <a:lnTo>
                  <a:pt x="8104026" y="3232865"/>
                </a:lnTo>
                <a:lnTo>
                  <a:pt x="8099859" y="3095705"/>
                </a:lnTo>
                <a:lnTo>
                  <a:pt x="8095922" y="2959917"/>
                </a:lnTo>
                <a:lnTo>
                  <a:pt x="8091523" y="2826871"/>
                </a:lnTo>
                <a:lnTo>
                  <a:pt x="8084809" y="2694512"/>
                </a:lnTo>
                <a:lnTo>
                  <a:pt x="8077631" y="2564211"/>
                </a:lnTo>
                <a:lnTo>
                  <a:pt x="8071149" y="2436652"/>
                </a:lnTo>
                <a:lnTo>
                  <a:pt x="8052857" y="2187706"/>
                </a:lnTo>
                <a:lnTo>
                  <a:pt x="8033409" y="1949048"/>
                </a:lnTo>
                <a:lnTo>
                  <a:pt x="8013034" y="1719991"/>
                </a:lnTo>
                <a:lnTo>
                  <a:pt x="7990575" y="1503278"/>
                </a:lnTo>
                <a:lnTo>
                  <a:pt x="7967191" y="1296166"/>
                </a:lnTo>
                <a:lnTo>
                  <a:pt x="7941955" y="1104142"/>
                </a:lnTo>
                <a:lnTo>
                  <a:pt x="7917180" y="923777"/>
                </a:lnTo>
                <a:lnTo>
                  <a:pt x="7892407" y="757813"/>
                </a:lnTo>
                <a:lnTo>
                  <a:pt x="7869022" y="605566"/>
                </a:lnTo>
                <a:lnTo>
                  <a:pt x="7846795" y="470463"/>
                </a:lnTo>
                <a:lnTo>
                  <a:pt x="7825725" y="348391"/>
                </a:lnTo>
                <a:lnTo>
                  <a:pt x="7808129" y="245521"/>
                </a:lnTo>
                <a:lnTo>
                  <a:pt x="7791459" y="159110"/>
                </a:lnTo>
                <a:lnTo>
                  <a:pt x="7767610" y="40466"/>
                </a:lnTo>
                <a:lnTo>
                  <a:pt x="7759507" y="4"/>
                </a:lnTo>
                <a:lnTo>
                  <a:pt x="7768809" y="4"/>
                </a:lnTo>
                <a:lnTo>
                  <a:pt x="7768809" y="3"/>
                </a:lnTo>
                <a:lnTo>
                  <a:pt x="4629960" y="3"/>
                </a:lnTo>
                <a:close/>
              </a:path>
            </a:pathLst>
          </a:custGeom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A96D423-BE1D-A026-A2E8-E55086921B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3475296"/>
              </p:ext>
            </p:extLst>
          </p:nvPr>
        </p:nvGraphicFramePr>
        <p:xfrm>
          <a:off x="4556119" y="492126"/>
          <a:ext cx="7320690" cy="55086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9" name="Picture Placeholder 18" descr="A person pouring a drink into a glass">
            <a:extLst>
              <a:ext uri="{FF2B5EF4-FFF2-40B4-BE49-F238E27FC236}">
                <a16:creationId xmlns:a16="http://schemas.microsoft.com/office/drawing/2014/main" id="{8C74EA20-7779-B2ED-77EF-F44BC0CCB30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206362"/>
            <a:ext cx="4176635" cy="268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86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3335" y="1233378"/>
            <a:ext cx="5697102" cy="1405366"/>
          </a:xfrm>
        </p:spPr>
        <p:txBody>
          <a:bodyPr>
            <a:normAutofit/>
          </a:bodyPr>
          <a:lstStyle/>
          <a:p>
            <a:r>
              <a:rPr lang="en-US" sz="4800" dirty="0"/>
              <a:t>-Our Stores-</a:t>
            </a:r>
          </a:p>
        </p:txBody>
      </p:sp>
      <p:sp>
        <p:nvSpPr>
          <p:cNvPr id="3" name="Subtitle 2" descr="Tag=AccentColor&#10;Flavor=Light&#10;Target=Text"/>
          <p:cNvSpPr>
            <a:spLocks noGrp="1"/>
          </p:cNvSpPr>
          <p:nvPr>
            <p:ph type="subTitle" idx="1"/>
          </p:nvPr>
        </p:nvSpPr>
        <p:spPr>
          <a:xfrm>
            <a:off x="913795" y="3002281"/>
            <a:ext cx="5686437" cy="2271393"/>
          </a:xfrm>
        </p:spPr>
        <p:txBody>
          <a:bodyPr>
            <a:normAutofit/>
          </a:bodyPr>
          <a:lstStyle/>
          <a:p>
            <a:pPr marL="342900" indent="-342900" algn="l">
              <a:buClr>
                <a:schemeClr val="accent3">
                  <a:lumMod val="75000"/>
                </a:schemeClr>
              </a:buClr>
              <a:buSzPct val="80000"/>
              <a:buFont typeface="Wingdings" panose="05000000000000000000" pitchFamily="2" charset="2"/>
              <a:buChar char="v"/>
            </a:pPr>
            <a:r>
              <a:rPr lang="en-US" sz="2800" dirty="0" err="1"/>
              <a:t>Asotoria</a:t>
            </a:r>
            <a:endParaRPr lang="en-US" sz="2800" dirty="0"/>
          </a:p>
          <a:p>
            <a:pPr marL="342900" indent="-342900" algn="l">
              <a:buClr>
                <a:schemeClr val="accent3">
                  <a:lumMod val="75000"/>
                </a:schemeClr>
              </a:buClr>
              <a:buSzPct val="80000"/>
              <a:buFont typeface="Wingdings" panose="05000000000000000000" pitchFamily="2" charset="2"/>
              <a:buChar char="v"/>
            </a:pPr>
            <a:r>
              <a:rPr lang="en-US" sz="2800" dirty="0"/>
              <a:t>Hell’s Kitchen</a:t>
            </a:r>
          </a:p>
          <a:p>
            <a:pPr marL="342900" indent="-342900" algn="l">
              <a:buClr>
                <a:schemeClr val="accent3">
                  <a:lumMod val="75000"/>
                </a:schemeClr>
              </a:buClr>
              <a:buSzPct val="80000"/>
              <a:buFont typeface="Wingdings" panose="05000000000000000000" pitchFamily="2" charset="2"/>
              <a:buChar char="v"/>
            </a:pPr>
            <a:r>
              <a:rPr lang="en-US" sz="2800" dirty="0"/>
              <a:t>Lower Manhattan</a:t>
            </a:r>
          </a:p>
        </p:txBody>
      </p:sp>
      <p:pic>
        <p:nvPicPr>
          <p:cNvPr id="23" name="Picture Placeholder 22" descr="A person sitting at a table">
            <a:extLst>
              <a:ext uri="{FF2B5EF4-FFF2-40B4-BE49-F238E27FC236}">
                <a16:creationId xmlns:a16="http://schemas.microsoft.com/office/drawing/2014/main" id="{8E1CFD6C-2E4B-4106-8446-4BD0F6602F7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96864" y="0"/>
            <a:ext cx="4572000" cy="6858000"/>
          </a:xfrm>
        </p:spPr>
      </p:pic>
    </p:spTree>
    <p:extLst>
      <p:ext uri="{BB962C8B-B14F-4D97-AF65-F5344CB8AC3E}">
        <p14:creationId xmlns:p14="http://schemas.microsoft.com/office/powerpoint/2010/main" val="83597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BAB7C38-AF9A-43A2-9B1C-F1DEBC80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676" cy="21087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6F75DE-8A44-4EC5-83C6-95BDDF10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72166"/>
            <a:ext cx="10353762" cy="12573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Total Sales per Store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5325" y="2049331"/>
            <a:ext cx="12192001" cy="4808669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17" name="Content Placeholder 8">
            <a:extLst>
              <a:ext uri="{FF2B5EF4-FFF2-40B4-BE49-F238E27FC236}">
                <a16:creationId xmlns:a16="http://schemas.microsoft.com/office/drawing/2014/main" id="{10E3D7BD-8F83-0D0F-59FA-2A9D47965F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7192142"/>
              </p:ext>
            </p:extLst>
          </p:nvPr>
        </p:nvGraphicFramePr>
        <p:xfrm>
          <a:off x="5324" y="1475509"/>
          <a:ext cx="12181352" cy="51850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212917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EF1C6B-8C27-1AEF-7AB8-C05F72E9D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2AABC82-C2D1-4340-A6DF-6E73DF06F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4639056" y="2"/>
            <a:ext cx="7552944" cy="6857998"/>
          </a:xfrm>
          <a:prstGeom prst="rect">
            <a:avLst/>
          </a:prstGeom>
        </p:spPr>
      </p:pic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856EA42-DC72-6728-84E2-3D14C9D694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4168922"/>
              </p:ext>
            </p:extLst>
          </p:nvPr>
        </p:nvGraphicFramePr>
        <p:xfrm>
          <a:off x="-10649" y="987136"/>
          <a:ext cx="11773157" cy="48916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FB1EBAD9-863F-7CB4-EE3E-D3B8B2EF9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3887"/>
            <a:ext cx="10353762" cy="1257300"/>
          </a:xfrm>
        </p:spPr>
        <p:txBody>
          <a:bodyPr/>
          <a:lstStyle/>
          <a:p>
            <a:r>
              <a:rPr lang="en-ZA" dirty="0"/>
              <a:t>Total Sales per Product</a:t>
            </a:r>
          </a:p>
        </p:txBody>
      </p:sp>
    </p:spTree>
    <p:extLst>
      <p:ext uri="{BB962C8B-B14F-4D97-AF65-F5344CB8AC3E}">
        <p14:creationId xmlns:p14="http://schemas.microsoft.com/office/powerpoint/2010/main" val="2332919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Placeholder 24" descr="A picture containing text, person, indoor, person reading">
            <a:extLst>
              <a:ext uri="{FF2B5EF4-FFF2-40B4-BE49-F238E27FC236}">
                <a16:creationId xmlns:a16="http://schemas.microsoft.com/office/drawing/2014/main" id="{8E18F186-0C71-44CE-B0E8-3A7412F2621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48600" y="642938"/>
            <a:ext cx="3700463" cy="2625725"/>
          </a:xfrm>
        </p:spPr>
      </p:pic>
      <p:pic>
        <p:nvPicPr>
          <p:cNvPr id="27" name="Picture Placeholder 26" descr="A picture containing person, indoor">
            <a:extLst>
              <a:ext uri="{FF2B5EF4-FFF2-40B4-BE49-F238E27FC236}">
                <a16:creationId xmlns:a16="http://schemas.microsoft.com/office/drawing/2014/main" id="{6B52C007-C025-49FF-BAB3-829C5858DF1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48600" y="3600901"/>
            <a:ext cx="3700463" cy="2625725"/>
          </a:xfrm>
        </p:spPr>
      </p:pic>
      <p:sp>
        <p:nvSpPr>
          <p:cNvPr id="44" name="Date Placeholder 3">
            <a:extLst>
              <a:ext uri="{FF2B5EF4-FFF2-40B4-BE49-F238E27FC236}">
                <a16:creationId xmlns:a16="http://schemas.microsoft.com/office/drawing/2014/main" id="{39391844-D7E3-44D6-B87F-E83C2C418BBB}"/>
              </a:ext>
            </a:extLst>
          </p:cNvPr>
          <p:cNvSpPr txBox="1">
            <a:spLocks/>
          </p:cNvSpPr>
          <p:nvPr/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00" dirty="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rPr>
              <a:t>20XX</a:t>
            </a:r>
          </a:p>
        </p:txBody>
      </p:sp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F40844C9-67FE-4E2E-AA09-6FF959A68FF0}"/>
              </a:ext>
            </a:extLst>
          </p:cNvPr>
          <p:cNvSpPr txBox="1">
            <a:spLocks/>
          </p:cNvSpPr>
          <p:nvPr/>
        </p:nvSpPr>
        <p:spPr>
          <a:xfrm>
            <a:off x="10514011" y="6000749"/>
            <a:ext cx="753545" cy="36512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r">
              <a:buNone/>
            </a:pPr>
            <a:fld id="{3A98EE3D-8CD1-4C3F-BD1C-C98C9596463C}" type="slidenum">
              <a:rPr lang="en-US"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rPr>
              <a:pPr marL="36900" indent="0" algn="r">
                <a:buNone/>
              </a:pPr>
              <a:t>8</a:t>
            </a:fld>
            <a:endParaRPr lang="en-US" sz="1000" dirty="0">
              <a:solidFill>
                <a:schemeClr val="tx1">
                  <a:lumMod val="95000"/>
                </a:schemeClr>
              </a:solidFill>
              <a:effectLst>
                <a:outerShdw blurRad="50800" dist="38100" dir="2700000" algn="tl" rotWithShape="0">
                  <a:schemeClr val="bg1">
                    <a:alpha val="43000"/>
                  </a:schemeClr>
                </a:outerShdw>
              </a:effectLst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CA768BC-F387-8965-30B1-E7EAED574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C6970B7E-FEF8-AAC6-9734-B88ECB534C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68B7BDD9-2262-2CBE-5B04-267120497B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3650356"/>
              </p:ext>
            </p:extLst>
          </p:nvPr>
        </p:nvGraphicFramePr>
        <p:xfrm>
          <a:off x="303106" y="872836"/>
          <a:ext cx="7152968" cy="4751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716500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7BAC168-8B04-0977-CED0-0B4374901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FFB73-C492-5E28-018C-17071E436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948" y="1973049"/>
            <a:ext cx="5441285" cy="2911902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Introduce lunch time specials to boost afternoon sales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Branded products are expensive to produce but sales are low. A loyalty program targeted at branded products can be introduced to increase sales.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D28039-E75C-8D03-2261-070389D4C7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3141" y="336756"/>
            <a:ext cx="5441286" cy="777874"/>
          </a:xfrm>
        </p:spPr>
        <p:txBody>
          <a:bodyPr>
            <a:noAutofit/>
          </a:bodyPr>
          <a:lstStyle/>
          <a:p>
            <a:r>
              <a:rPr lang="en-US" sz="4800" dirty="0"/>
              <a:t>Recommendations</a:t>
            </a:r>
          </a:p>
        </p:txBody>
      </p:sp>
      <p:pic>
        <p:nvPicPr>
          <p:cNvPr id="25" name="Picture Placeholder 24" descr="A picture containing text, person, indoor, person reading">
            <a:extLst>
              <a:ext uri="{FF2B5EF4-FFF2-40B4-BE49-F238E27FC236}">
                <a16:creationId xmlns:a16="http://schemas.microsoft.com/office/drawing/2014/main" id="{755FC3F5-3DD9-18CA-8A50-BA314C33F5A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48600" y="642938"/>
            <a:ext cx="3700463" cy="2625725"/>
          </a:xfrm>
        </p:spPr>
      </p:pic>
      <p:pic>
        <p:nvPicPr>
          <p:cNvPr id="27" name="Picture Placeholder 26" descr="A picture containing person, indoor">
            <a:extLst>
              <a:ext uri="{FF2B5EF4-FFF2-40B4-BE49-F238E27FC236}">
                <a16:creationId xmlns:a16="http://schemas.microsoft.com/office/drawing/2014/main" id="{4AF0EE95-C12F-9969-2B90-896AAB9DB7A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48600" y="3600901"/>
            <a:ext cx="3700463" cy="2625725"/>
          </a:xfrm>
        </p:spPr>
      </p:pic>
    </p:spTree>
    <p:extLst>
      <p:ext uri="{BB962C8B-B14F-4D97-AF65-F5344CB8AC3E}">
        <p14:creationId xmlns:p14="http://schemas.microsoft.com/office/powerpoint/2010/main" val="784276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Placeholder 22" descr="A person sitting in a chair">
            <a:extLst>
              <a:ext uri="{FF2B5EF4-FFF2-40B4-BE49-F238E27FC236}">
                <a16:creationId xmlns:a16="http://schemas.microsoft.com/office/drawing/2014/main" id="{D7295B9C-2CB9-499D-8649-8B68BCBBD20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 useBgFill="1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6676" y="1572884"/>
            <a:ext cx="4100417" cy="2585050"/>
          </a:xfrm>
        </p:spPr>
        <p:txBody>
          <a:bodyPr>
            <a:normAutofit/>
          </a:bodyPr>
          <a:lstStyle/>
          <a:p>
            <a:r>
              <a:rPr lang="en-US" dirty="0"/>
              <a:t>Thank you</a:t>
            </a:r>
          </a:p>
        </p:txBody>
      </p:sp>
      <p:sp useBgFill="1">
        <p:nvSpPr>
          <p:cNvPr id="3" name="Subtitle 2" descr="Tag=AccentColor&#10;Flavor=Light&#10;Target=Text"/>
          <p:cNvSpPr>
            <a:spLocks noGrp="1"/>
          </p:cNvSpPr>
          <p:nvPr>
            <p:ph type="subTitle" idx="1"/>
          </p:nvPr>
        </p:nvSpPr>
        <p:spPr>
          <a:xfrm>
            <a:off x="1146675" y="4157934"/>
            <a:ext cx="4100418" cy="1446364"/>
          </a:xfrm>
        </p:spPr>
        <p:txBody>
          <a:bodyPr>
            <a:normAutofit/>
          </a:bodyPr>
          <a:lstStyle/>
          <a:p>
            <a:r>
              <a:rPr lang="en-US" dirty="0"/>
              <a:t>John – Junior Data Analyst</a:t>
            </a:r>
          </a:p>
          <a:p>
            <a:r>
              <a:rPr lang="en-US" dirty="0"/>
              <a:t>john@brightcoffee.com</a:t>
            </a:r>
          </a:p>
          <a:p>
            <a:r>
              <a:rPr lang="en-US" dirty="0"/>
              <a:t>www.brightcoffee.com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096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1D2C913-C7E9-427D-8C7B-4D2DB36F60B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F06F3F2-9398-47DD-B339-5E062F7F29B5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80EF115D-73C4-4C20-A44F-97481CD74C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Coffee corner design</Template>
  <TotalTime>1116</TotalTime>
  <Words>131</Words>
  <Application>Microsoft Office PowerPoint</Application>
  <PresentationFormat>Widescreen</PresentationFormat>
  <Paragraphs>31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Calisto MT</vt:lpstr>
      <vt:lpstr>Wingdings</vt:lpstr>
      <vt:lpstr>Wingdings 2</vt:lpstr>
      <vt:lpstr>SlateVTI</vt:lpstr>
      <vt:lpstr>Bright Coffee Shop  Sales Analysis</vt:lpstr>
      <vt:lpstr>Introduction</vt:lpstr>
      <vt:lpstr>Total Sales R698 812.33 </vt:lpstr>
      <vt:lpstr>Chart</vt:lpstr>
      <vt:lpstr>-Our Stores-</vt:lpstr>
      <vt:lpstr>Total Sales per Store</vt:lpstr>
      <vt:lpstr>Total Sales per Product</vt:lpstr>
      <vt:lpstr>PowerPoint Presentation</vt:lpstr>
      <vt:lpstr>Introduce lunch time specials to boost afternoon sales  Branded products are expensive to produce but sales are low. A loyalty program targeted at branded products can be introduced to increase sales.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Sibeko, Thulani (GPHealth)</dc:creator>
  <cp:lastModifiedBy>Sibeko, Thulani (GPHealth)</cp:lastModifiedBy>
  <cp:revision>16</cp:revision>
  <dcterms:created xsi:type="dcterms:W3CDTF">2026-03-30T16:28:24Z</dcterms:created>
  <dcterms:modified xsi:type="dcterms:W3CDTF">2026-03-31T19:21:05Z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